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embeddedFontLst>
    <p:embeddedFont>
      <p:font typeface="Familjen Grotesk Medium"/>
      <p:regular r:id="rId17"/>
      <p:bold r:id="rId18"/>
      <p:italic r:id="rId19"/>
      <p:boldItalic r:id="rId20"/>
    </p:embeddedFont>
    <p:embeddedFont>
      <p:font typeface="Young Serif"/>
      <p:regular r:id="rId21"/>
    </p:embeddedFont>
    <p:embeddedFont>
      <p:font typeface="Familjen Grotesk"/>
      <p:regular r:id="rId22"/>
      <p:bold r:id="rId23"/>
      <p:italic r:id="rId24"/>
      <p:boldItalic r:id="rId25"/>
    </p:embeddedFont>
    <p:embeddedFont>
      <p:font typeface="Spectral"/>
      <p:regular r:id="rId26"/>
      <p:bold r:id="rId27"/>
      <p:italic r:id="rId28"/>
      <p:boldItalic r:id="rId29"/>
    </p:embeddedFont>
    <p:embeddedFont>
      <p:font typeface="Rubik"/>
      <p:regular r:id="rId30"/>
      <p:bold r:id="rId31"/>
      <p:italic r:id="rId32"/>
      <p:boldItalic r:id="rId33"/>
    </p:embeddedFont>
    <p:embeddedFont>
      <p:font typeface="Rubik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amiljenGroteskMedium-boldItalic.fntdata"/><Relationship Id="rId22" Type="http://schemas.openxmlformats.org/officeDocument/2006/relationships/font" Target="fonts/FamiljenGrotesk-regular.fntdata"/><Relationship Id="rId21" Type="http://schemas.openxmlformats.org/officeDocument/2006/relationships/font" Target="fonts/YoungSerif-regular.fntdata"/><Relationship Id="rId24" Type="http://schemas.openxmlformats.org/officeDocument/2006/relationships/font" Target="fonts/FamiljenGrotesk-italic.fntdata"/><Relationship Id="rId23" Type="http://schemas.openxmlformats.org/officeDocument/2006/relationships/font" Target="fonts/Familjen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pectral-regular.fntdata"/><Relationship Id="rId25" Type="http://schemas.openxmlformats.org/officeDocument/2006/relationships/font" Target="fonts/FamiljenGrotesk-boldItalic.fntdata"/><Relationship Id="rId28" Type="http://schemas.openxmlformats.org/officeDocument/2006/relationships/font" Target="fonts/Spectral-italic.fntdata"/><Relationship Id="rId27" Type="http://schemas.openxmlformats.org/officeDocument/2006/relationships/font" Target="fonts/Spectral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pectral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ubik-bold.fntdata"/><Relationship Id="rId30" Type="http://schemas.openxmlformats.org/officeDocument/2006/relationships/font" Target="fonts/Rubik-regular.fntdata"/><Relationship Id="rId11" Type="http://schemas.openxmlformats.org/officeDocument/2006/relationships/slide" Target="slides/slide5.xml"/><Relationship Id="rId33" Type="http://schemas.openxmlformats.org/officeDocument/2006/relationships/font" Target="fonts/Rubik-boldItalic.fntdata"/><Relationship Id="rId10" Type="http://schemas.openxmlformats.org/officeDocument/2006/relationships/slide" Target="slides/slide4.xml"/><Relationship Id="rId32" Type="http://schemas.openxmlformats.org/officeDocument/2006/relationships/font" Target="fonts/Rubik-italic.fntdata"/><Relationship Id="rId13" Type="http://schemas.openxmlformats.org/officeDocument/2006/relationships/slide" Target="slides/slide7.xml"/><Relationship Id="rId35" Type="http://schemas.openxmlformats.org/officeDocument/2006/relationships/font" Target="fonts/RubikSemiBold-bold.fntdata"/><Relationship Id="rId12" Type="http://schemas.openxmlformats.org/officeDocument/2006/relationships/slide" Target="slides/slide6.xml"/><Relationship Id="rId34" Type="http://schemas.openxmlformats.org/officeDocument/2006/relationships/font" Target="fonts/Rubik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Rubik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RubikSemiBold-italic.fntdata"/><Relationship Id="rId17" Type="http://schemas.openxmlformats.org/officeDocument/2006/relationships/font" Target="fonts/FamiljenGroteskMedium-regular.fntdata"/><Relationship Id="rId16" Type="http://schemas.openxmlformats.org/officeDocument/2006/relationships/slide" Target="slides/slide10.xml"/><Relationship Id="rId19" Type="http://schemas.openxmlformats.org/officeDocument/2006/relationships/font" Target="fonts/FamiljenGroteskMedium-italic.fntdata"/><Relationship Id="rId18" Type="http://schemas.openxmlformats.org/officeDocument/2006/relationships/font" Target="fonts/FamiljenGrotesk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68fb55926_1_11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68fb55926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68fb55926_1_32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68fb55926_1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6910b3c90_0_28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6910b3c9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6910b3c90_0_29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6910b3c9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35fee1e15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35fee1e1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35fee1e15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c35fee1e1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35fee1e15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35fee1e1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35fee1e15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35fee1e1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35fee1e15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c35fee1e1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35fee1e15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c35fee1e1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SECTION_HEADER_1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28600" y="304800"/>
            <a:ext cx="8686800" cy="624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1248900" y="2177133"/>
            <a:ext cx="6646200" cy="21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2369850" y="4295533"/>
            <a:ext cx="44043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down" showMasterSp="0">
  <p:cSld name="Title Slide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7222297" y="6489000"/>
            <a:ext cx="1678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5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Google_logo </a:t>
            </a:r>
            <a:r>
              <a:rPr lang="en-US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 2021   </a:t>
            </a:r>
            <a:r>
              <a:rPr lang="en-US" sz="400">
                <a:solidFill>
                  <a:schemeClr val="dk2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 |    </a:t>
            </a:r>
            <a:r>
              <a:rPr lang="en-US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Confidential and Proprietary  pg. </a:t>
            </a:r>
            <a:fld id="{00000000-1234-1234-1234-123412341234}" type="slidenum">
              <a:rPr lang="en-US" sz="400">
                <a:solidFill>
                  <a:schemeClr val="dk2"/>
                </a:solidFill>
                <a:latin typeface="Familjen Grotesk Medium"/>
                <a:ea typeface="Familjen Grotesk Medium"/>
                <a:cs typeface="Familjen Grotesk Medium"/>
                <a:sym typeface="Familjen Grotesk Medium"/>
              </a:rPr>
              <a:t>‹#›</a:t>
            </a:fld>
            <a:endParaRPr sz="400">
              <a:solidFill>
                <a:schemeClr val="dk2"/>
              </a:solidFill>
              <a:latin typeface="Familjen Grotesk Medium"/>
              <a:ea typeface="Familjen Grotesk Medium"/>
              <a:cs typeface="Familjen Grotesk Medium"/>
              <a:sym typeface="Familjen Grotesk Medium"/>
            </a:endParaRPr>
          </a:p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6333134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1pPr>
            <a:lvl2pPr lvl="1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buNone/>
              <a:defRPr sz="1300"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771200" y="30167"/>
            <a:ext cx="2800800" cy="30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subTitle"/>
          </p:nvPr>
        </p:nvSpPr>
        <p:spPr>
          <a:xfrm>
            <a:off x="6207450" y="30167"/>
            <a:ext cx="2800800" cy="30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3" type="sldNum"/>
          </p:nvPr>
        </p:nvSpPr>
        <p:spPr>
          <a:xfrm>
            <a:off x="131793" y="23371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pg.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73152" y="447067"/>
            <a:ext cx="44487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4" type="body"/>
          </p:nvPr>
        </p:nvSpPr>
        <p:spPr>
          <a:xfrm>
            <a:off x="5172399" y="466367"/>
            <a:ext cx="3721800" cy="942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>
  <p:cSld name="TITLE_AND_TWO_COLUMNS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6"/>
          <p:cNvSpPr/>
          <p:nvPr/>
        </p:nvSpPr>
        <p:spPr>
          <a:xfrm>
            <a:off x="228600" y="1457200"/>
            <a:ext cx="8686800" cy="5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27150" y="2349733"/>
            <a:ext cx="42297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88450" y="2862533"/>
            <a:ext cx="3309900" cy="31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6" name="Google Shape;76;p16"/>
          <p:cNvSpPr/>
          <p:nvPr/>
        </p:nvSpPr>
        <p:spPr>
          <a:xfrm>
            <a:off x="4685575" y="2349733"/>
            <a:ext cx="42297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5146875" y="2862533"/>
            <a:ext cx="3309900" cy="31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635500" y="1457200"/>
            <a:ext cx="7836900" cy="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">
  <p:cSld name="CUSTOM_2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3933400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2" type="subTitle"/>
          </p:nvPr>
        </p:nvSpPr>
        <p:spPr>
          <a:xfrm>
            <a:off x="5174505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3" type="subTitle"/>
          </p:nvPr>
        </p:nvSpPr>
        <p:spPr>
          <a:xfrm>
            <a:off x="2692294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4" type="subTitle"/>
          </p:nvPr>
        </p:nvSpPr>
        <p:spPr>
          <a:xfrm>
            <a:off x="1454986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5" type="subTitle"/>
          </p:nvPr>
        </p:nvSpPr>
        <p:spPr>
          <a:xfrm>
            <a:off x="206286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6" type="subTitle"/>
          </p:nvPr>
        </p:nvSpPr>
        <p:spPr>
          <a:xfrm>
            <a:off x="6412959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7" type="subTitle"/>
          </p:nvPr>
        </p:nvSpPr>
        <p:spPr>
          <a:xfrm>
            <a:off x="7651409" y="1421033"/>
            <a:ext cx="5781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87" name="Google Shape;87;p17"/>
          <p:cNvGrpSpPr/>
          <p:nvPr/>
        </p:nvGrpSpPr>
        <p:grpSpPr>
          <a:xfrm>
            <a:off x="234275" y="1591060"/>
            <a:ext cx="8682900" cy="4939377"/>
            <a:chOff x="234275" y="1193325"/>
            <a:chExt cx="8682900" cy="3704625"/>
          </a:xfrm>
        </p:grpSpPr>
        <p:cxnSp>
          <p:nvCxnSpPr>
            <p:cNvPr id="88" name="Google Shape;88;p17"/>
            <p:cNvCxnSpPr/>
            <p:nvPr/>
          </p:nvCxnSpPr>
          <p:spPr>
            <a:xfrm>
              <a:off x="234275" y="4008300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" name="Google Shape;89;p17"/>
            <p:cNvCxnSpPr/>
            <p:nvPr/>
          </p:nvCxnSpPr>
          <p:spPr>
            <a:xfrm>
              <a:off x="234275" y="3045563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17"/>
            <p:cNvCxnSpPr/>
            <p:nvPr/>
          </p:nvCxnSpPr>
          <p:spPr>
            <a:xfrm>
              <a:off x="234275" y="20828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17"/>
            <p:cNvCxnSpPr/>
            <p:nvPr/>
          </p:nvCxnSpPr>
          <p:spPr>
            <a:xfrm>
              <a:off x="14740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17"/>
            <p:cNvCxnSpPr/>
            <p:nvPr/>
          </p:nvCxnSpPr>
          <p:spPr>
            <a:xfrm>
              <a:off x="27132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7"/>
            <p:cNvCxnSpPr/>
            <p:nvPr/>
          </p:nvCxnSpPr>
          <p:spPr>
            <a:xfrm>
              <a:off x="39524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17"/>
            <p:cNvCxnSpPr/>
            <p:nvPr/>
          </p:nvCxnSpPr>
          <p:spPr>
            <a:xfrm>
              <a:off x="51916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17"/>
            <p:cNvCxnSpPr/>
            <p:nvPr/>
          </p:nvCxnSpPr>
          <p:spPr>
            <a:xfrm>
              <a:off x="64308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17"/>
            <p:cNvCxnSpPr/>
            <p:nvPr/>
          </p:nvCxnSpPr>
          <p:spPr>
            <a:xfrm>
              <a:off x="7670000" y="1193550"/>
              <a:ext cx="0" cy="370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" name="Google Shape;97;p17"/>
            <p:cNvSpPr/>
            <p:nvPr/>
          </p:nvSpPr>
          <p:spPr>
            <a:xfrm>
              <a:off x="234275" y="1193325"/>
              <a:ext cx="8675450" cy="3704450"/>
            </a:xfrm>
            <a:custGeom>
              <a:rect b="b" l="l" r="r" t="t"/>
              <a:pathLst>
                <a:path extrusionOk="0" h="148178" w="34701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8" name="Google Shape;98;p17"/>
          <p:cNvSpPr txBox="1"/>
          <p:nvPr>
            <p:ph idx="8" type="subTitle"/>
          </p:nvPr>
        </p:nvSpPr>
        <p:spPr>
          <a:xfrm>
            <a:off x="1771200" y="30167"/>
            <a:ext cx="2800800" cy="30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9" type="subTitle"/>
          </p:nvPr>
        </p:nvSpPr>
        <p:spPr>
          <a:xfrm>
            <a:off x="6207450" y="30167"/>
            <a:ext cx="2800800" cy="30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131793" y="23371"/>
            <a:ext cx="548700" cy="3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pg.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73152" y="447067"/>
            <a:ext cx="44487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None/>
              <a:defRPr sz="5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13" type="body"/>
          </p:nvPr>
        </p:nvSpPr>
        <p:spPr>
          <a:xfrm>
            <a:off x="5172399" y="466367"/>
            <a:ext cx="3721800" cy="942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03" name="Google Shape;103;p17"/>
          <p:cNvSpPr txBox="1"/>
          <p:nvPr>
            <p:ph idx="14" type="subTitle"/>
          </p:nvPr>
        </p:nvSpPr>
        <p:spPr>
          <a:xfrm>
            <a:off x="207975" y="2404038"/>
            <a:ext cx="5397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15" type="subTitle"/>
          </p:nvPr>
        </p:nvSpPr>
        <p:spPr>
          <a:xfrm>
            <a:off x="207975" y="3686727"/>
            <a:ext cx="5397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6" type="subTitle"/>
          </p:nvPr>
        </p:nvSpPr>
        <p:spPr>
          <a:xfrm>
            <a:off x="207975" y="4990767"/>
            <a:ext cx="5397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_3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/>
        </p:nvSpPr>
        <p:spPr>
          <a:xfrm>
            <a:off x="228600" y="1457200"/>
            <a:ext cx="8686800" cy="5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10" name="Google Shape;110;p18"/>
          <p:cNvSpPr txBox="1"/>
          <p:nvPr>
            <p:ph idx="1" type="subTitle"/>
          </p:nvPr>
        </p:nvSpPr>
        <p:spPr>
          <a:xfrm>
            <a:off x="635500" y="1457200"/>
            <a:ext cx="7836900" cy="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1" name="Google Shape;111;p18"/>
          <p:cNvSpPr/>
          <p:nvPr/>
        </p:nvSpPr>
        <p:spPr>
          <a:xfrm>
            <a:off x="228450" y="2349733"/>
            <a:ext cx="86868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p18"/>
          <p:cNvSpPr txBox="1"/>
          <p:nvPr>
            <p:ph idx="2" type="body"/>
          </p:nvPr>
        </p:nvSpPr>
        <p:spPr>
          <a:xfrm>
            <a:off x="456400" y="2644467"/>
            <a:ext cx="81138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228600" y="304800"/>
            <a:ext cx="8686800" cy="624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16" name="Google Shape;116;p19"/>
          <p:cNvSpPr txBox="1"/>
          <p:nvPr>
            <p:ph type="title"/>
          </p:nvPr>
        </p:nvSpPr>
        <p:spPr>
          <a:xfrm>
            <a:off x="1248900" y="2369800"/>
            <a:ext cx="6646200" cy="21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228600" y="304800"/>
            <a:ext cx="8686800" cy="624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1248900" y="2177133"/>
            <a:ext cx="6646200" cy="21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" type="subTitle"/>
          </p:nvPr>
        </p:nvSpPr>
        <p:spPr>
          <a:xfrm>
            <a:off x="2369850" y="4295533"/>
            <a:ext cx="44043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24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" name="Google Shape;153;p2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677325" y="2443700"/>
            <a:ext cx="3217200" cy="19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1"/>
          <p:cNvSpPr txBox="1"/>
          <p:nvPr>
            <p:ph idx="1" type="subTitle"/>
          </p:nvPr>
        </p:nvSpPr>
        <p:spPr>
          <a:xfrm>
            <a:off x="4406650" y="52500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2" type="subTitle"/>
          </p:nvPr>
        </p:nvSpPr>
        <p:spPr>
          <a:xfrm>
            <a:off x="4406650" y="153560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3" type="subTitle"/>
          </p:nvPr>
        </p:nvSpPr>
        <p:spPr>
          <a:xfrm>
            <a:off x="4406650" y="4567427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4" type="subTitle"/>
          </p:nvPr>
        </p:nvSpPr>
        <p:spPr>
          <a:xfrm>
            <a:off x="4406650" y="254621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5" type="subTitle"/>
          </p:nvPr>
        </p:nvSpPr>
        <p:spPr>
          <a:xfrm>
            <a:off x="4406650" y="5578033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6" type="subTitle"/>
          </p:nvPr>
        </p:nvSpPr>
        <p:spPr>
          <a:xfrm>
            <a:off x="4406650" y="3556820"/>
            <a:ext cx="44097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74" name="Google Shape;174;p32"/>
          <p:cNvSpPr/>
          <p:nvPr>
            <p:ph idx="2" type="pic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33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2" type="body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3" type="subTitle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2" name="Google Shape;182;p33"/>
          <p:cNvSpPr txBox="1"/>
          <p:nvPr>
            <p:ph idx="4" type="subTitle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2" type="body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3" type="body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9" name="Google Shape;189;p34"/>
          <p:cNvSpPr txBox="1"/>
          <p:nvPr>
            <p:ph idx="4" type="subTitle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5" type="subTitle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6" type="subTitle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2" type="body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3" type="body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4" type="body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9" name="Google Shape;199;p35"/>
          <p:cNvSpPr txBox="1"/>
          <p:nvPr>
            <p:ph idx="5" type="subTitle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6" type="subTitle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1" name="Google Shape;201;p35"/>
          <p:cNvSpPr txBox="1"/>
          <p:nvPr>
            <p:ph idx="7" type="subTitle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8" type="subTitle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5" name="Google Shape;205;p36"/>
          <p:cNvSpPr/>
          <p:nvPr>
            <p:ph idx="2" type="pic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6"/>
          <p:cNvSpPr/>
          <p:nvPr>
            <p:ph idx="3" type="pic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6"/>
          <p:cNvSpPr txBox="1"/>
          <p:nvPr>
            <p:ph idx="4" type="body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5" type="subTitle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1" name="Google Shape;211;p36"/>
          <p:cNvSpPr txBox="1"/>
          <p:nvPr>
            <p:ph idx="6" type="subTitle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4" name="Google Shape;214;p37"/>
          <p:cNvSpPr/>
          <p:nvPr>
            <p:ph idx="2" type="pic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37"/>
          <p:cNvSpPr/>
          <p:nvPr>
            <p:ph idx="3" type="pic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7"/>
          <p:cNvSpPr txBox="1"/>
          <p:nvPr>
            <p:ph idx="4" type="body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7" name="Google Shape;217;p37"/>
          <p:cNvSpPr/>
          <p:nvPr>
            <p:ph idx="5" type="pic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7"/>
          <p:cNvSpPr txBox="1"/>
          <p:nvPr>
            <p:ph idx="6" type="body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7" type="subTitle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2" name="Google Shape;222;p37"/>
          <p:cNvSpPr txBox="1"/>
          <p:nvPr>
            <p:ph idx="8" type="subTitle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3" name="Google Shape;223;p37"/>
          <p:cNvSpPr txBox="1"/>
          <p:nvPr>
            <p:ph idx="9" type="subTitle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/>
          <p:nvPr>
            <p:ph idx="2" type="pic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39"/>
          <p:cNvSpPr/>
          <p:nvPr>
            <p:ph idx="2" type="pic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9"/>
          <p:cNvSpPr/>
          <p:nvPr>
            <p:ph idx="3" type="pic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39"/>
          <p:cNvSpPr/>
          <p:nvPr>
            <p:ph idx="4" type="pic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39"/>
          <p:cNvSpPr/>
          <p:nvPr>
            <p:ph idx="5" type="pic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9"/>
          <p:cNvSpPr/>
          <p:nvPr>
            <p:ph idx="6" type="pic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9"/>
          <p:cNvSpPr/>
          <p:nvPr>
            <p:ph idx="7" type="pic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9"/>
          <p:cNvSpPr txBox="1"/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6" name="Google Shape;236;p39"/>
          <p:cNvSpPr/>
          <p:nvPr>
            <p:ph idx="8" type="pic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9"/>
          <p:cNvSpPr/>
          <p:nvPr>
            <p:ph idx="9" type="pic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9"/>
          <p:cNvSpPr/>
          <p:nvPr>
            <p:ph idx="13" type="pic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40"/>
          <p:cNvSpPr/>
          <p:nvPr>
            <p:ph idx="2" type="pic"/>
          </p:nvPr>
        </p:nvSpPr>
        <p:spPr>
          <a:xfrm>
            <a:off x="228600" y="1763300"/>
            <a:ext cx="8686800" cy="4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0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3" name="Google Shape;243;p40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41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7" name="Google Shape;247;p41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8" name="Google Shape;248;p41"/>
          <p:cNvSpPr/>
          <p:nvPr/>
        </p:nvSpPr>
        <p:spPr>
          <a:xfrm>
            <a:off x="228600" y="1457200"/>
            <a:ext cx="8686800" cy="5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227150" y="2349733"/>
            <a:ext cx="42297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688450" y="2862533"/>
            <a:ext cx="3309900" cy="31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41"/>
          <p:cNvSpPr/>
          <p:nvPr/>
        </p:nvSpPr>
        <p:spPr>
          <a:xfrm>
            <a:off x="4685575" y="2349733"/>
            <a:ext cx="42297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252" name="Google Shape;252;p41"/>
          <p:cNvSpPr txBox="1"/>
          <p:nvPr>
            <p:ph idx="2" type="body"/>
          </p:nvPr>
        </p:nvSpPr>
        <p:spPr>
          <a:xfrm>
            <a:off x="5146875" y="2862533"/>
            <a:ext cx="3309900" cy="31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41"/>
          <p:cNvSpPr txBox="1"/>
          <p:nvPr>
            <p:ph idx="3" type="subTitle"/>
          </p:nvPr>
        </p:nvSpPr>
        <p:spPr>
          <a:xfrm>
            <a:off x="635500" y="1457200"/>
            <a:ext cx="7836900" cy="5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6" name="Google Shape;256;p42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7" name="Google Shape;257;p42"/>
          <p:cNvSpPr/>
          <p:nvPr/>
        </p:nvSpPr>
        <p:spPr>
          <a:xfrm>
            <a:off x="228600" y="1457200"/>
            <a:ext cx="8686800" cy="5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8" name="Google Shape;258;p42"/>
          <p:cNvSpPr txBox="1"/>
          <p:nvPr>
            <p:ph idx="1" type="subTitle"/>
          </p:nvPr>
        </p:nvSpPr>
        <p:spPr>
          <a:xfrm>
            <a:off x="635500" y="1457200"/>
            <a:ext cx="7836900" cy="5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42"/>
          <p:cNvSpPr/>
          <p:nvPr/>
        </p:nvSpPr>
        <p:spPr>
          <a:xfrm>
            <a:off x="228450" y="2349733"/>
            <a:ext cx="86868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0" name="Google Shape;260;p42"/>
          <p:cNvSpPr txBox="1"/>
          <p:nvPr>
            <p:ph idx="2" type="body"/>
          </p:nvPr>
        </p:nvSpPr>
        <p:spPr>
          <a:xfrm>
            <a:off x="456400" y="2644467"/>
            <a:ext cx="81138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1" name="Google Shape;261;p42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4" name="Google Shape;264;p43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5" name="Google Shape;265;p43"/>
          <p:cNvSpPr/>
          <p:nvPr/>
        </p:nvSpPr>
        <p:spPr>
          <a:xfrm>
            <a:off x="228600" y="1457200"/>
            <a:ext cx="8686800" cy="5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66" name="Google Shape;266;p43"/>
          <p:cNvSpPr txBox="1"/>
          <p:nvPr>
            <p:ph idx="1" type="subTitle"/>
          </p:nvPr>
        </p:nvSpPr>
        <p:spPr>
          <a:xfrm>
            <a:off x="635500" y="1457200"/>
            <a:ext cx="7836900" cy="58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7" name="Google Shape;267;p43"/>
          <p:cNvSpPr/>
          <p:nvPr>
            <p:ph idx="2" type="pic"/>
          </p:nvPr>
        </p:nvSpPr>
        <p:spPr>
          <a:xfrm>
            <a:off x="4685900" y="2349733"/>
            <a:ext cx="4229400" cy="420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3"/>
          <p:cNvSpPr/>
          <p:nvPr/>
        </p:nvSpPr>
        <p:spPr>
          <a:xfrm>
            <a:off x="228450" y="2349733"/>
            <a:ext cx="4229400" cy="420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69" name="Google Shape;269;p43"/>
          <p:cNvSpPr txBox="1"/>
          <p:nvPr>
            <p:ph idx="3" type="body"/>
          </p:nvPr>
        </p:nvSpPr>
        <p:spPr>
          <a:xfrm>
            <a:off x="456400" y="2644467"/>
            <a:ext cx="3780300" cy="3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0" name="Google Shape;270;p43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73" name="Google Shape;273;p44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4" name="Google Shape;274;p44"/>
          <p:cNvSpPr/>
          <p:nvPr/>
        </p:nvSpPr>
        <p:spPr>
          <a:xfrm>
            <a:off x="228600" y="1763300"/>
            <a:ext cx="27687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75" name="Google Shape;275;p44"/>
          <p:cNvSpPr txBox="1"/>
          <p:nvPr>
            <p:ph idx="1" type="subTitle"/>
          </p:nvPr>
        </p:nvSpPr>
        <p:spPr>
          <a:xfrm>
            <a:off x="228600" y="1763267"/>
            <a:ext cx="2768700" cy="6012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6" name="Google Shape;276;p44"/>
          <p:cNvSpPr/>
          <p:nvPr>
            <p:ph idx="2" type="pic"/>
          </p:nvPr>
        </p:nvSpPr>
        <p:spPr>
          <a:xfrm>
            <a:off x="228600" y="4083967"/>
            <a:ext cx="8686800" cy="24693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44"/>
          <p:cNvSpPr/>
          <p:nvPr/>
        </p:nvSpPr>
        <p:spPr>
          <a:xfrm>
            <a:off x="228600" y="2341483"/>
            <a:ext cx="2768700" cy="144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78" name="Google Shape;278;p44"/>
          <p:cNvSpPr txBox="1"/>
          <p:nvPr>
            <p:ph idx="3" type="body"/>
          </p:nvPr>
        </p:nvSpPr>
        <p:spPr>
          <a:xfrm>
            <a:off x="228600" y="2412300"/>
            <a:ext cx="2768700" cy="13065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44"/>
          <p:cNvSpPr/>
          <p:nvPr/>
        </p:nvSpPr>
        <p:spPr>
          <a:xfrm>
            <a:off x="3187650" y="1763267"/>
            <a:ext cx="2768700" cy="203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80" name="Google Shape;280;p44"/>
          <p:cNvSpPr/>
          <p:nvPr/>
        </p:nvSpPr>
        <p:spPr>
          <a:xfrm>
            <a:off x="6146700" y="1763267"/>
            <a:ext cx="2768700" cy="203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81" name="Google Shape;281;p44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5" name="Google Shape;285;p45"/>
          <p:cNvSpPr/>
          <p:nvPr>
            <p:ph idx="2" type="pic"/>
          </p:nvPr>
        </p:nvSpPr>
        <p:spPr>
          <a:xfrm>
            <a:off x="228600" y="4083967"/>
            <a:ext cx="8686800" cy="24693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5"/>
          <p:cNvSpPr/>
          <p:nvPr/>
        </p:nvSpPr>
        <p:spPr>
          <a:xfrm>
            <a:off x="6146700" y="1763267"/>
            <a:ext cx="2768700" cy="203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87" name="Google Shape;287;p45"/>
          <p:cNvSpPr/>
          <p:nvPr/>
        </p:nvSpPr>
        <p:spPr>
          <a:xfrm>
            <a:off x="228600" y="1763301"/>
            <a:ext cx="2768700" cy="203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88" name="Google Shape;288;p45"/>
          <p:cNvSpPr/>
          <p:nvPr/>
        </p:nvSpPr>
        <p:spPr>
          <a:xfrm>
            <a:off x="3187650" y="1763300"/>
            <a:ext cx="27687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89" name="Google Shape;289;p45"/>
          <p:cNvSpPr txBox="1"/>
          <p:nvPr>
            <p:ph idx="1" type="subTitle"/>
          </p:nvPr>
        </p:nvSpPr>
        <p:spPr>
          <a:xfrm>
            <a:off x="3187650" y="1763267"/>
            <a:ext cx="2768700" cy="6012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0" name="Google Shape;290;p45"/>
          <p:cNvSpPr/>
          <p:nvPr/>
        </p:nvSpPr>
        <p:spPr>
          <a:xfrm>
            <a:off x="3187650" y="2341483"/>
            <a:ext cx="2768700" cy="144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91" name="Google Shape;291;p45"/>
          <p:cNvSpPr txBox="1"/>
          <p:nvPr>
            <p:ph idx="3" type="body"/>
          </p:nvPr>
        </p:nvSpPr>
        <p:spPr>
          <a:xfrm>
            <a:off x="3187650" y="2412300"/>
            <a:ext cx="2768700" cy="13065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2" name="Google Shape;292;p45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95" name="Google Shape;295;p46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6" name="Google Shape;296;p46"/>
          <p:cNvSpPr/>
          <p:nvPr>
            <p:ph idx="2" type="pic"/>
          </p:nvPr>
        </p:nvSpPr>
        <p:spPr>
          <a:xfrm>
            <a:off x="228600" y="4083967"/>
            <a:ext cx="8686800" cy="24693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6"/>
          <p:cNvSpPr/>
          <p:nvPr/>
        </p:nvSpPr>
        <p:spPr>
          <a:xfrm>
            <a:off x="228600" y="1763301"/>
            <a:ext cx="2768700" cy="203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98" name="Google Shape;298;p46"/>
          <p:cNvSpPr/>
          <p:nvPr/>
        </p:nvSpPr>
        <p:spPr>
          <a:xfrm>
            <a:off x="3187650" y="1763267"/>
            <a:ext cx="2768700" cy="203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99" name="Google Shape;299;p46"/>
          <p:cNvSpPr/>
          <p:nvPr/>
        </p:nvSpPr>
        <p:spPr>
          <a:xfrm>
            <a:off x="6146700" y="1763300"/>
            <a:ext cx="27687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00" name="Google Shape;300;p46"/>
          <p:cNvSpPr txBox="1"/>
          <p:nvPr>
            <p:ph idx="1" type="subTitle"/>
          </p:nvPr>
        </p:nvSpPr>
        <p:spPr>
          <a:xfrm>
            <a:off x="6146700" y="1763267"/>
            <a:ext cx="2768700" cy="6012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1" name="Google Shape;301;p46"/>
          <p:cNvSpPr/>
          <p:nvPr/>
        </p:nvSpPr>
        <p:spPr>
          <a:xfrm>
            <a:off x="6146700" y="2341483"/>
            <a:ext cx="2768700" cy="144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2" name="Google Shape;302;p46"/>
          <p:cNvSpPr txBox="1"/>
          <p:nvPr>
            <p:ph idx="3" type="body"/>
          </p:nvPr>
        </p:nvSpPr>
        <p:spPr>
          <a:xfrm>
            <a:off x="6146700" y="2412300"/>
            <a:ext cx="2768700" cy="13065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/>
          <p:nvPr/>
        </p:nvSpPr>
        <p:spPr>
          <a:xfrm>
            <a:off x="228475" y="304800"/>
            <a:ext cx="8686800" cy="115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6" name="Google Shape;306;p47"/>
          <p:cNvSpPr txBox="1"/>
          <p:nvPr>
            <p:ph type="title"/>
          </p:nvPr>
        </p:nvSpPr>
        <p:spPr>
          <a:xfrm>
            <a:off x="635500" y="304800"/>
            <a:ext cx="78369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7" name="Google Shape;307;p47"/>
          <p:cNvSpPr/>
          <p:nvPr>
            <p:ph idx="2" type="pic"/>
          </p:nvPr>
        </p:nvSpPr>
        <p:spPr>
          <a:xfrm>
            <a:off x="228600" y="4083967"/>
            <a:ext cx="8686800" cy="24693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7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47"/>
          <p:cNvSpPr/>
          <p:nvPr/>
        </p:nvSpPr>
        <p:spPr>
          <a:xfrm>
            <a:off x="228600" y="1763300"/>
            <a:ext cx="27687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10" name="Google Shape;310;p47"/>
          <p:cNvSpPr txBox="1"/>
          <p:nvPr>
            <p:ph idx="1" type="subTitle"/>
          </p:nvPr>
        </p:nvSpPr>
        <p:spPr>
          <a:xfrm>
            <a:off x="228600" y="1763267"/>
            <a:ext cx="2768700" cy="6012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1" name="Google Shape;311;p47"/>
          <p:cNvSpPr/>
          <p:nvPr/>
        </p:nvSpPr>
        <p:spPr>
          <a:xfrm>
            <a:off x="228600" y="2341483"/>
            <a:ext cx="2768700" cy="144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12" name="Google Shape;312;p47"/>
          <p:cNvSpPr txBox="1"/>
          <p:nvPr>
            <p:ph idx="3" type="body"/>
          </p:nvPr>
        </p:nvSpPr>
        <p:spPr>
          <a:xfrm>
            <a:off x="228600" y="2412300"/>
            <a:ext cx="2768700" cy="13065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3" name="Google Shape;313;p47"/>
          <p:cNvSpPr/>
          <p:nvPr/>
        </p:nvSpPr>
        <p:spPr>
          <a:xfrm>
            <a:off x="3187650" y="1763300"/>
            <a:ext cx="27687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14" name="Google Shape;314;p47"/>
          <p:cNvSpPr txBox="1"/>
          <p:nvPr>
            <p:ph idx="4" type="subTitle"/>
          </p:nvPr>
        </p:nvSpPr>
        <p:spPr>
          <a:xfrm>
            <a:off x="3187650" y="1763267"/>
            <a:ext cx="2768700" cy="6012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5" name="Google Shape;315;p47"/>
          <p:cNvSpPr/>
          <p:nvPr/>
        </p:nvSpPr>
        <p:spPr>
          <a:xfrm>
            <a:off x="3187650" y="2341483"/>
            <a:ext cx="2768700" cy="144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16" name="Google Shape;316;p47"/>
          <p:cNvSpPr txBox="1"/>
          <p:nvPr>
            <p:ph idx="5" type="body"/>
          </p:nvPr>
        </p:nvSpPr>
        <p:spPr>
          <a:xfrm>
            <a:off x="3187650" y="2412300"/>
            <a:ext cx="2768700" cy="13065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7" name="Google Shape;317;p47"/>
          <p:cNvSpPr/>
          <p:nvPr/>
        </p:nvSpPr>
        <p:spPr>
          <a:xfrm>
            <a:off x="6146700" y="1763300"/>
            <a:ext cx="27687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18" name="Google Shape;318;p47"/>
          <p:cNvSpPr txBox="1"/>
          <p:nvPr>
            <p:ph idx="6" type="subTitle"/>
          </p:nvPr>
        </p:nvSpPr>
        <p:spPr>
          <a:xfrm>
            <a:off x="6146700" y="1763267"/>
            <a:ext cx="2768700" cy="6012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9" name="Google Shape;319;p47"/>
          <p:cNvSpPr/>
          <p:nvPr/>
        </p:nvSpPr>
        <p:spPr>
          <a:xfrm>
            <a:off x="6146700" y="2341483"/>
            <a:ext cx="2768700" cy="144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20" name="Google Shape;320;p47"/>
          <p:cNvSpPr txBox="1"/>
          <p:nvPr>
            <p:ph idx="7" type="body"/>
          </p:nvPr>
        </p:nvSpPr>
        <p:spPr>
          <a:xfrm>
            <a:off x="6146700" y="2412300"/>
            <a:ext cx="2768700" cy="13065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/>
          <p:nvPr/>
        </p:nvSpPr>
        <p:spPr>
          <a:xfrm>
            <a:off x="228600" y="304800"/>
            <a:ext cx="8686800" cy="624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23" name="Google Shape;323;p48"/>
          <p:cNvSpPr txBox="1"/>
          <p:nvPr>
            <p:ph type="title"/>
          </p:nvPr>
        </p:nvSpPr>
        <p:spPr>
          <a:xfrm>
            <a:off x="1248900" y="2369800"/>
            <a:ext cx="6646200" cy="21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4" name="Google Shape;324;p48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43.xml"/><Relationship Id="rId28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45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47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2419267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595308" y="633318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79E"/>
            </a:gs>
            <a:gs pos="100000">
              <a:srgbClr val="03031E"/>
            </a:gs>
          </a:gsLst>
          <a:lin ang="5400012" scaled="0"/>
        </a:gra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"/>
          <p:cNvSpPr txBox="1"/>
          <p:nvPr>
            <p:ph type="title"/>
          </p:nvPr>
        </p:nvSpPr>
        <p:spPr>
          <a:xfrm>
            <a:off x="803675" y="916125"/>
            <a:ext cx="7372200" cy="17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Healthcare Patient Churn Analysis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1" name="Google Shape;331;p50"/>
          <p:cNvSpPr txBox="1"/>
          <p:nvPr/>
        </p:nvSpPr>
        <p:spPr>
          <a:xfrm>
            <a:off x="1843650" y="2997888"/>
            <a:ext cx="5456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Identifying Key Drivers of Patient Attrition and Revenue Risk</a:t>
            </a:r>
            <a:endParaRPr b="1" sz="165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32" name="Google Shape;332;p50"/>
          <p:cNvSpPr txBox="1"/>
          <p:nvPr/>
        </p:nvSpPr>
        <p:spPr>
          <a:xfrm>
            <a:off x="2112450" y="4381625"/>
            <a:ext cx="4919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Prepared by: MUSTAPHA FATIHA</a:t>
            </a:r>
            <a:endParaRPr b="1" sz="15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79E"/>
            </a:gs>
            <a:gs pos="100000">
              <a:srgbClr val="03031E"/>
            </a:gs>
          </a:gsLst>
          <a:lin ang="5400012" scaled="0"/>
        </a:gra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1"/>
          <p:cNvSpPr txBox="1"/>
          <p:nvPr>
            <p:ph type="title"/>
          </p:nvPr>
        </p:nvSpPr>
        <p:spPr>
          <a:xfrm>
            <a:off x="233525" y="304800"/>
            <a:ext cx="8700000" cy="11544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Overview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8" name="Google Shape;338;p51"/>
          <p:cNvSpPr txBox="1"/>
          <p:nvPr>
            <p:ph idx="3" type="subTitle"/>
          </p:nvPr>
        </p:nvSpPr>
        <p:spPr>
          <a:xfrm>
            <a:off x="233525" y="1457200"/>
            <a:ext cx="8700000" cy="5880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lin ang="5400012" scaled="0"/>
          </a:gra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Contents</a:t>
            </a:r>
            <a:r>
              <a:rPr lang="en-US">
                <a:solidFill>
                  <a:schemeClr val="lt2"/>
                </a:solidFill>
              </a:rPr>
              <a:t> We’ll Be Covering For This Report: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9" name="Google Shape;339;p51"/>
          <p:cNvSpPr txBox="1"/>
          <p:nvPr>
            <p:ph idx="1" type="body"/>
          </p:nvPr>
        </p:nvSpPr>
        <p:spPr>
          <a:xfrm>
            <a:off x="233525" y="2358350"/>
            <a:ext cx="4226700" cy="42102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Analyze patient churn patterns in healthcare.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Identify key drivers of patient attrition.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Quantify financial impact and revenue at risk.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Segment patients by churn risk.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Provide actionable retention recommendations.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p51"/>
          <p:cNvSpPr txBox="1"/>
          <p:nvPr>
            <p:ph idx="2" type="body"/>
          </p:nvPr>
        </p:nvSpPr>
        <p:spPr>
          <a:xfrm>
            <a:off x="4706850" y="2358350"/>
            <a:ext cx="4226700" cy="42102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" name="Google Shape;341;p51"/>
          <p:cNvSpPr txBox="1"/>
          <p:nvPr/>
        </p:nvSpPr>
        <p:spPr>
          <a:xfrm>
            <a:off x="644675" y="2605075"/>
            <a:ext cx="2730000" cy="45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Objectives;</a:t>
            </a:r>
            <a:endParaRPr b="1" sz="1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2" name="Google Shape;342;p51"/>
          <p:cNvSpPr txBox="1"/>
          <p:nvPr/>
        </p:nvSpPr>
        <p:spPr>
          <a:xfrm>
            <a:off x="5094950" y="2605075"/>
            <a:ext cx="3615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Description;</a:t>
            </a:r>
            <a:endParaRPr b="1" sz="1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3" name="Google Shape;343;p51"/>
          <p:cNvSpPr txBox="1"/>
          <p:nvPr/>
        </p:nvSpPr>
        <p:spPr>
          <a:xfrm>
            <a:off x="4706850" y="3058975"/>
            <a:ext cx="38649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b="1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size: 2,000 patient records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b="1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categories: (Demographics, Service utilization, Satisfaction metrics, Engagement behavior and Financial indicators)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●"/>
            </a:pPr>
            <a:r>
              <a:rPr b="1"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Target variable: Churned (0 = Retained, 1 = Churned)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79E"/>
            </a:gs>
            <a:gs pos="100000">
              <a:srgbClr val="0303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217075" y="304800"/>
            <a:ext cx="8683500" cy="1154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Methodology and Tools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9" name="Google Shape;349;p52"/>
          <p:cNvSpPr/>
          <p:nvPr/>
        </p:nvSpPr>
        <p:spPr>
          <a:xfrm>
            <a:off x="217075" y="2325475"/>
            <a:ext cx="8683500" cy="421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50" name="Google Shape;350;p52"/>
          <p:cNvSpPr txBox="1"/>
          <p:nvPr/>
        </p:nvSpPr>
        <p:spPr>
          <a:xfrm>
            <a:off x="414425" y="2975300"/>
            <a:ext cx="57726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cleaning &amp; preprocessing (Python)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Exploratory data analysis (EDA)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Feature engineering &amp; risk profiling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Visualization &amp; dashboarding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51" name="Google Shape;351;p52"/>
          <p:cNvSpPr txBox="1"/>
          <p:nvPr/>
        </p:nvSpPr>
        <p:spPr>
          <a:xfrm>
            <a:off x="2206650" y="1531700"/>
            <a:ext cx="47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-US" sz="200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This project adopted the following:</a:t>
            </a:r>
            <a:endParaRPr b="1" sz="20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352" name="Google Shape;352;p52"/>
          <p:cNvSpPr txBox="1"/>
          <p:nvPr/>
        </p:nvSpPr>
        <p:spPr>
          <a:xfrm>
            <a:off x="414425" y="2521400"/>
            <a:ext cx="21708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Content</a:t>
            </a:r>
            <a:r>
              <a:rPr b="1" lang="en-US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1"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3" name="Google Shape;353;p52"/>
          <p:cNvSpPr txBox="1"/>
          <p:nvPr/>
        </p:nvSpPr>
        <p:spPr>
          <a:xfrm>
            <a:off x="562475" y="4545700"/>
            <a:ext cx="2368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Used;</a:t>
            </a:r>
            <a:endParaRPr b="1" sz="17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52"/>
          <p:cNvSpPr txBox="1"/>
          <p:nvPr/>
        </p:nvSpPr>
        <p:spPr>
          <a:xfrm>
            <a:off x="414425" y="4999600"/>
            <a:ext cx="490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Python (Pandas, Matplotlib, Seaborn)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Streamlit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Verdana"/>
              <a:buChar char="●"/>
            </a:pPr>
            <a:r>
              <a:rPr b="1" lang="en-US" sz="13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Google docs</a:t>
            </a:r>
            <a:endParaRPr b="1" sz="13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5079E"/>
            </a:gs>
            <a:gs pos="100000">
              <a:srgbClr val="03031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224350" y="302800"/>
            <a:ext cx="8691000" cy="1154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Key Findings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224350" y="1457200"/>
            <a:ext cx="8691000" cy="5880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Overall Churn Overview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61" name="Google Shape;361;p53"/>
          <p:cNvSpPr/>
          <p:nvPr/>
        </p:nvSpPr>
        <p:spPr>
          <a:xfrm>
            <a:off x="230650" y="2349725"/>
            <a:ext cx="4048500" cy="42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62" name="Google Shape;362;p53" title="CHUR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275" y="2349725"/>
            <a:ext cx="5294075" cy="42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3"/>
          <p:cNvSpPr txBox="1"/>
          <p:nvPr/>
        </p:nvSpPr>
        <p:spPr>
          <a:xfrm>
            <a:off x="383675" y="2637950"/>
            <a:ext cx="32376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Key </a:t>
            </a: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Metrics: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patients: 2,000</a:t>
            </a:r>
            <a:b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Churned patients: 1,367 (68.35%)</a:t>
            </a:r>
            <a:b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Retained patients: 633 (31.65%)</a:t>
            </a:r>
            <a:endParaRPr b="1" sz="18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/>
          <p:nvPr/>
        </p:nvSpPr>
        <p:spPr>
          <a:xfrm>
            <a:off x="217100" y="187475"/>
            <a:ext cx="8732700" cy="6744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69" name="Google Shape;369;p54"/>
          <p:cNvSpPr txBox="1"/>
          <p:nvPr/>
        </p:nvSpPr>
        <p:spPr>
          <a:xfrm>
            <a:off x="912750" y="205325"/>
            <a:ext cx="73185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Demographics &amp; Tenure Insights</a:t>
            </a:r>
            <a:endParaRPr b="1" sz="29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370" name="Google Shape;370;p54" title="age gro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00" y="1014275"/>
            <a:ext cx="4159750" cy="33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4" title="ten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050" y="3349600"/>
            <a:ext cx="4159750" cy="336776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4"/>
          <p:cNvSpPr txBox="1"/>
          <p:nvPr/>
        </p:nvSpPr>
        <p:spPr>
          <a:xfrm>
            <a:off x="5000650" y="1327063"/>
            <a:ext cx="3456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Highest churn among 18–30 age group (76.9%)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Slightly elevated churn among the 60+ age group(66.4%)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73" name="Google Shape;373;p54"/>
          <p:cNvCxnSpPr/>
          <p:nvPr/>
        </p:nvCxnSpPr>
        <p:spPr>
          <a:xfrm>
            <a:off x="4433900" y="2335938"/>
            <a:ext cx="509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4" name="Google Shape;374;p54"/>
          <p:cNvSpPr txBox="1"/>
          <p:nvPr/>
        </p:nvSpPr>
        <p:spPr>
          <a:xfrm>
            <a:off x="912750" y="4641025"/>
            <a:ext cx="36675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Short-tenure patients (&lt;1 year) churn the most (75.6%)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Longer tenure = lower churn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375" name="Google Shape;375;p54"/>
          <p:cNvCxnSpPr/>
          <p:nvPr/>
        </p:nvCxnSpPr>
        <p:spPr>
          <a:xfrm flipH="1">
            <a:off x="4156650" y="5368000"/>
            <a:ext cx="550200" cy="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/>
          <p:nvPr/>
        </p:nvSpPr>
        <p:spPr>
          <a:xfrm>
            <a:off x="217100" y="187475"/>
            <a:ext cx="8732700" cy="6744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912750" y="205325"/>
            <a:ext cx="73185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Satisfaction &amp; Experience Drivers</a:t>
            </a:r>
            <a:endParaRPr b="1" sz="29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382" name="Google Shape;382;p55" title="satisfa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00" y="1071225"/>
            <a:ext cx="5048925" cy="561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5"/>
          <p:cNvSpPr txBox="1"/>
          <p:nvPr/>
        </p:nvSpPr>
        <p:spPr>
          <a:xfrm>
            <a:off x="5670500" y="1829050"/>
            <a:ext cx="32793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Churned patients report lower:</a:t>
            </a:r>
            <a:endParaRPr b="1"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b="1" lang="en-US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Overall satisfaction</a:t>
            </a:r>
            <a:endParaRPr b="1"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b="1" lang="en-US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Wait-time satisfaction</a:t>
            </a:r>
            <a:endParaRPr b="1"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b="1" lang="en-US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Provider ratings.</a:t>
            </a:r>
            <a:endParaRPr b="1" sz="15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384" name="Google Shape;384;p55"/>
          <p:cNvCxnSpPr/>
          <p:nvPr/>
        </p:nvCxnSpPr>
        <p:spPr>
          <a:xfrm>
            <a:off x="5266025" y="3082400"/>
            <a:ext cx="4605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5" name="Google Shape;385;p55"/>
          <p:cNvSpPr txBox="1"/>
          <p:nvPr/>
        </p:nvSpPr>
        <p:spPr>
          <a:xfrm>
            <a:off x="5266025" y="3794250"/>
            <a:ext cx="3683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b="1" lang="en-US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Churn increases sharply at low satisfaction levels</a:t>
            </a:r>
            <a:endParaRPr b="1"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6"/>
          <p:cNvSpPr/>
          <p:nvPr/>
        </p:nvSpPr>
        <p:spPr>
          <a:xfrm>
            <a:off x="217100" y="187475"/>
            <a:ext cx="8732700" cy="6744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91" name="Google Shape;391;p56"/>
          <p:cNvSpPr txBox="1"/>
          <p:nvPr/>
        </p:nvSpPr>
        <p:spPr>
          <a:xfrm>
            <a:off x="912750" y="205325"/>
            <a:ext cx="73185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Engagement &amp; Behavioral Drivers</a:t>
            </a:r>
            <a:endParaRPr b="1" sz="29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392" name="Google Shape;392;p56" title="vis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00" y="965025"/>
            <a:ext cx="4522651" cy="28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6" title="port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150" y="1014275"/>
            <a:ext cx="4057650" cy="295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56" title="referral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8826" y="3902375"/>
            <a:ext cx="4105551" cy="2955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6"/>
          <p:cNvSpPr txBox="1"/>
          <p:nvPr/>
        </p:nvSpPr>
        <p:spPr>
          <a:xfrm>
            <a:off x="283450" y="3970075"/>
            <a:ext cx="38472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Higher churn among patients:</a:t>
            </a:r>
            <a:endParaRPr b="1" sz="14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●"/>
            </a:pPr>
            <a:r>
              <a:rPr b="1" lang="en-US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Inactive for long periods (365+ days)</a:t>
            </a:r>
            <a:endParaRPr b="1" sz="14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●"/>
            </a:pPr>
            <a:r>
              <a:rPr b="1" lang="en-US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 using patient portals</a:t>
            </a:r>
            <a:endParaRPr b="1" sz="14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●"/>
            </a:pPr>
            <a:r>
              <a:rPr b="1" lang="en-US" sz="14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 no referral behavior</a:t>
            </a:r>
            <a:endParaRPr b="1" sz="14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56"/>
          <p:cNvSpPr txBox="1"/>
          <p:nvPr/>
        </p:nvSpPr>
        <p:spPr>
          <a:xfrm>
            <a:off x="283450" y="5631125"/>
            <a:ext cx="328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Engagement = loyalty</a:t>
            </a:r>
            <a:endParaRPr b="1" sz="15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/>
          <p:nvPr/>
        </p:nvSpPr>
        <p:spPr>
          <a:xfrm>
            <a:off x="217100" y="187475"/>
            <a:ext cx="8732700" cy="6744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912750" y="205325"/>
            <a:ext cx="73185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Financial Drivers &amp; Revenue at Risk</a:t>
            </a:r>
            <a:endParaRPr b="1" sz="29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pic>
        <p:nvPicPr>
          <p:cNvPr id="403" name="Google Shape;403;p57" title="bill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00" y="1047175"/>
            <a:ext cx="4419600" cy="3578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7" title="co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100" y="1014275"/>
            <a:ext cx="4202500" cy="340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7"/>
          <p:cNvSpPr txBox="1"/>
          <p:nvPr/>
        </p:nvSpPr>
        <p:spPr>
          <a:xfrm>
            <a:off x="396300" y="4956825"/>
            <a:ext cx="45243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Higher churn among patients with: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Billing issues (77.1% churn)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Higher out-of-pocket costs</a:t>
            </a:r>
            <a:endParaRPr b="1" sz="19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6" name="Google Shape;406;p57"/>
          <p:cNvSpPr txBox="1"/>
          <p:nvPr/>
        </p:nvSpPr>
        <p:spPr>
          <a:xfrm>
            <a:off x="5282475" y="4956825"/>
            <a:ext cx="358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Estimated revenue at risk: $1,174,452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/>
          <p:nvPr/>
        </p:nvSpPr>
        <p:spPr>
          <a:xfrm>
            <a:off x="217100" y="187475"/>
            <a:ext cx="8732700" cy="6744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12" name="Google Shape;412;p58"/>
          <p:cNvSpPr txBox="1"/>
          <p:nvPr/>
        </p:nvSpPr>
        <p:spPr>
          <a:xfrm>
            <a:off x="912750" y="205325"/>
            <a:ext cx="73185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High-Risk Patient Profile</a:t>
            </a:r>
            <a:endParaRPr b="1" sz="29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413" name="Google Shape;413;p58"/>
          <p:cNvSpPr txBox="1"/>
          <p:nvPr/>
        </p:nvSpPr>
        <p:spPr>
          <a:xfrm>
            <a:off x="5630900" y="1552500"/>
            <a:ext cx="3318900" cy="2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High-risk patients typically have: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Low satisfaction scores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 inactivity periods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Billing issues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High personal costs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●"/>
            </a:pP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Low digital engagement</a:t>
            </a:r>
            <a:endParaRPr b="1"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14" name="Google Shape;414;p58"/>
          <p:cNvSpPr txBox="1"/>
          <p:nvPr/>
        </p:nvSpPr>
        <p:spPr>
          <a:xfrm>
            <a:off x="5565200" y="4266100"/>
            <a:ext cx="3384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Outcome: Higher Churn rate.</a:t>
            </a:r>
            <a:endParaRPr b="1" sz="15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5" name="Google Shape;415;p58" title="ris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4275"/>
            <a:ext cx="5181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/>
          <p:nvPr/>
        </p:nvSpPr>
        <p:spPr>
          <a:xfrm>
            <a:off x="217100" y="187475"/>
            <a:ext cx="8732700" cy="6744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21" name="Google Shape;421;p59"/>
          <p:cNvSpPr txBox="1"/>
          <p:nvPr/>
        </p:nvSpPr>
        <p:spPr>
          <a:xfrm>
            <a:off x="912750" y="205325"/>
            <a:ext cx="73185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Recommendations and Conclusion</a:t>
            </a:r>
            <a:endParaRPr b="1" sz="29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422" name="Google Shape;422;p59"/>
          <p:cNvSpPr txBox="1"/>
          <p:nvPr/>
        </p:nvSpPr>
        <p:spPr>
          <a:xfrm>
            <a:off x="226875" y="3429000"/>
            <a:ext cx="83217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Conclusion: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Churn is driven by experience, engagement, and financial friction.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Char char="●"/>
            </a:pPr>
            <a:r>
              <a:rPr b="1"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Targeted, data-driven interventions can reduce attrition and protect revenue.</a:t>
            </a:r>
            <a:endParaRPr b="1"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3" name="Google Shape;423;p59"/>
          <p:cNvSpPr txBox="1"/>
          <p:nvPr/>
        </p:nvSpPr>
        <p:spPr>
          <a:xfrm>
            <a:off x="2183925" y="6256075"/>
            <a:ext cx="4700400" cy="531000"/>
          </a:xfrm>
          <a:prstGeom prst="rect">
            <a:avLst/>
          </a:prstGeom>
          <a:gradFill>
            <a:gsLst>
              <a:gs pos="0">
                <a:srgbClr val="05079E"/>
              </a:gs>
              <a:gs pos="100000">
                <a:srgbClr val="03031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chemeClr val="lt2"/>
                </a:solidFill>
                <a:latin typeface="Young Serif"/>
                <a:ea typeface="Young Serif"/>
                <a:cs typeface="Young Serif"/>
                <a:sym typeface="Young Serif"/>
              </a:rPr>
              <a:t>THANK YOU!</a:t>
            </a:r>
            <a:endParaRPr b="1" sz="225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424" name="Google Shape;424;p59"/>
          <p:cNvSpPr txBox="1"/>
          <p:nvPr/>
        </p:nvSpPr>
        <p:spPr>
          <a:xfrm>
            <a:off x="226875" y="1059125"/>
            <a:ext cx="8614500" cy="26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Recommendations: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b="1"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Proactive outreach to inactive patients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b="1"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Improve wait times &amp; overall interactions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b="1"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Promote patient portal usage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b="1"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 billing issues faster</a:t>
            </a:r>
            <a:endParaRPr b="1"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b="1"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Focus retention on  medium and high-risk segments</a:t>
            </a:r>
            <a:endParaRPr b="1" sz="20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